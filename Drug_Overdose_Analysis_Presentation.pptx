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7"/>
  </p:notesMasterIdLst>
  <p:sldIdLst>
    <p:sldId id="256" r:id="rId2"/>
    <p:sldId id="257" r:id="rId3"/>
    <p:sldId id="258" r:id="rId4"/>
    <p:sldId id="259" r:id="rId5"/>
    <p:sldId id="260" r:id="rId6"/>
  </p:sldIdLst>
  <p:sldSz cx="9144000" cy="5143500" type="screen16x9"/>
  <p:notesSz cx="6858000" cy="9144000"/>
  <p:embeddedFontLst>
    <p:embeddedFont>
      <p:font typeface="Lato" panose="020F0502020204030203" pitchFamily="34" charset="0"/>
      <p:regular r:id="rId8"/>
      <p:bold r:id="rId9"/>
      <p:italic r:id="rId10"/>
      <p:boldItalic r:id="rId11"/>
    </p:embeddedFont>
    <p:embeddedFont>
      <p:font typeface="Raleway" pitchFamily="2" charset="0"/>
      <p:regular r:id="rId12"/>
      <p:bold r:id="rId13"/>
      <p:italic r:id="rId14"/>
      <p:boldItalic r:id="rId15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E660E4A-3E56-4B90-A117-8733072399D7}" v="219" dt="2024-04-29T02:00:38.05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11" d="100"/>
          <a:sy n="111" d="100"/>
        </p:scale>
        <p:origin x="634" y="77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1.fntdata"/><Relationship Id="rId13" Type="http://schemas.openxmlformats.org/officeDocument/2006/relationships/font" Target="fonts/font6.fntdata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12" Type="http://schemas.openxmlformats.org/officeDocument/2006/relationships/font" Target="fonts/font5.fntdata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20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4.fntdata"/><Relationship Id="rId5" Type="http://schemas.openxmlformats.org/officeDocument/2006/relationships/slide" Target="slides/slide4.xml"/><Relationship Id="rId15" Type="http://schemas.openxmlformats.org/officeDocument/2006/relationships/font" Target="fonts/font8.fntdata"/><Relationship Id="rId10" Type="http://schemas.openxmlformats.org/officeDocument/2006/relationships/font" Target="fonts/font3.fntdata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font" Target="fonts/font2.fntdata"/><Relationship Id="rId14" Type="http://schemas.openxmlformats.org/officeDocument/2006/relationships/font" Target="fonts/font7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" name="Google Shape;84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g2d05c034a5d_0_185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1" name="Google Shape;91;g2d05c034a5d_0_185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g2d05c034a5d_0_225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7" name="Google Shape;97;g2d05c034a5d_0_225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g2d05c034a5d_0_285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5" name="Google Shape;105;g2d05c034a5d_0_285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g2d05c034a5d_0_39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4" name="Google Shape;114;g2d05c034a5d_0_391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bg>
      <p:bgPr>
        <a:solidFill>
          <a:schemeClr val="lt2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1" name="Google Shape;11;p2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12" name="Google Shape;12;p2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" name="Google Shape;13;p2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4" name="Google Shape;14;p2"/>
          <p:cNvSpPr txBox="1">
            <a:spLocks noGrp="1"/>
          </p:cNvSpPr>
          <p:nvPr>
            <p:ph type="ctrTitle"/>
          </p:nvPr>
        </p:nvSpPr>
        <p:spPr>
          <a:xfrm>
            <a:off x="729450" y="1322450"/>
            <a:ext cx="7688100" cy="1664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15" name="Google Shape;15;p2"/>
          <p:cNvSpPr txBox="1">
            <a:spLocks noGrp="1"/>
          </p:cNvSpPr>
          <p:nvPr>
            <p:ph type="subTitle" idx="1"/>
          </p:nvPr>
        </p:nvSpPr>
        <p:spPr>
          <a:xfrm>
            <a:off x="729627" y="3172900"/>
            <a:ext cx="7688100" cy="54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16" name="Google Shape;16;p2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bg>
      <p:bgPr>
        <a:solidFill>
          <a:schemeClr val="dk1"/>
        </a:solidFill>
        <a:effectLst/>
      </p:bgPr>
    </p:bg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Google Shape;18;p3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19" name="Google Shape;19;p3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" name="Google Shape;20;p3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1" name="Google Shape;21;p3"/>
          <p:cNvSpPr txBox="1">
            <a:spLocks noGrp="1"/>
          </p:cNvSpPr>
          <p:nvPr>
            <p:ph type="title"/>
          </p:nvPr>
        </p:nvSpPr>
        <p:spPr>
          <a:xfrm>
            <a:off x="729450" y="1322450"/>
            <a:ext cx="7688400" cy="1518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22" name="Google Shape;22;p3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4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25" name="Google Shape;25;p4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26" name="Google Shape;26;p4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" name="Google Shape;27;p4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8" name="Google Shape;28;p4"/>
          <p:cNvSpPr txBox="1">
            <a:spLocks noGrp="1"/>
          </p:cNvSpPr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>
            <a:endParaRPr/>
          </a:p>
        </p:txBody>
      </p:sp>
      <p:sp>
        <p:nvSpPr>
          <p:cNvPr id="29" name="Google Shape;29;p4"/>
          <p:cNvSpPr txBox="1">
            <a:spLocks noGrp="1"/>
          </p:cNvSpPr>
          <p:nvPr>
            <p:ph type="body" idx="1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30" name="Google Shape;30;p4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5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33" name="Google Shape;33;p5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34" name="Google Shape;34;p5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" name="Google Shape;35;p5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36" name="Google Shape;36;p5"/>
          <p:cNvSpPr txBox="1">
            <a:spLocks noGrp="1"/>
          </p:cNvSpPr>
          <p:nvPr>
            <p:ph type="title"/>
          </p:nvPr>
        </p:nvSpPr>
        <p:spPr>
          <a:xfrm>
            <a:off x="729450" y="1318650"/>
            <a:ext cx="7688400" cy="53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>
            <a:endParaRPr/>
          </a:p>
        </p:txBody>
      </p:sp>
      <p:sp>
        <p:nvSpPr>
          <p:cNvPr id="37" name="Google Shape;37;p5"/>
          <p:cNvSpPr txBox="1">
            <a:spLocks noGrp="1"/>
          </p:cNvSpPr>
          <p:nvPr>
            <p:ph type="body" idx="1"/>
          </p:nvPr>
        </p:nvSpPr>
        <p:spPr>
          <a:xfrm>
            <a:off x="729325" y="2078875"/>
            <a:ext cx="3774300" cy="2261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38" name="Google Shape;38;p5"/>
          <p:cNvSpPr txBox="1">
            <a:spLocks noGrp="1"/>
          </p:cNvSpPr>
          <p:nvPr>
            <p:ph type="body" idx="2"/>
          </p:nvPr>
        </p:nvSpPr>
        <p:spPr>
          <a:xfrm>
            <a:off x="4643604" y="2078875"/>
            <a:ext cx="3774300" cy="2261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39" name="Google Shape;39;p5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6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42" name="Google Shape;42;p6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43" name="Google Shape;43;p6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" name="Google Shape;44;p6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45" name="Google Shape;45;p6"/>
          <p:cNvSpPr txBox="1">
            <a:spLocks noGrp="1"/>
          </p:cNvSpPr>
          <p:nvPr>
            <p:ph type="title"/>
          </p:nvPr>
        </p:nvSpPr>
        <p:spPr>
          <a:xfrm>
            <a:off x="729450" y="1318650"/>
            <a:ext cx="7688400" cy="53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>
            <a:endParaRPr/>
          </a:p>
        </p:txBody>
      </p:sp>
      <p:sp>
        <p:nvSpPr>
          <p:cNvPr id="46" name="Google Shape;46;p6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7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49" name="Google Shape;49;p7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50" name="Google Shape;50;p7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" name="Google Shape;51;p7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52" name="Google Shape;52;p7"/>
          <p:cNvSpPr txBox="1">
            <a:spLocks noGrp="1"/>
          </p:cNvSpPr>
          <p:nvPr>
            <p:ph type="title"/>
          </p:nvPr>
        </p:nvSpPr>
        <p:spPr>
          <a:xfrm>
            <a:off x="730000" y="1318650"/>
            <a:ext cx="3300900" cy="1381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>
            <a:endParaRPr/>
          </a:p>
        </p:txBody>
      </p:sp>
      <p:sp>
        <p:nvSpPr>
          <p:cNvPr id="53" name="Google Shape;53;p7"/>
          <p:cNvSpPr txBox="1">
            <a:spLocks noGrp="1"/>
          </p:cNvSpPr>
          <p:nvPr>
            <p:ph type="body" idx="1"/>
          </p:nvPr>
        </p:nvSpPr>
        <p:spPr>
          <a:xfrm>
            <a:off x="721225" y="2781725"/>
            <a:ext cx="3300900" cy="1597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54" name="Google Shape;54;p7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bg>
      <p:bgPr>
        <a:solidFill>
          <a:schemeClr val="accent3"/>
        </a:solidFill>
        <a:effectLst/>
      </p:bgPr>
    </p:bg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6" name="Google Shape;56;p8"/>
          <p:cNvGrpSpPr/>
          <p:nvPr/>
        </p:nvGrpSpPr>
        <p:grpSpPr>
          <a:xfrm>
            <a:off x="830392" y="4169130"/>
            <a:ext cx="745763" cy="45826"/>
            <a:chOff x="4580561" y="2589004"/>
            <a:chExt cx="1064464" cy="25200"/>
          </a:xfrm>
        </p:grpSpPr>
        <p:sp>
          <p:nvSpPr>
            <p:cNvPr id="57" name="Google Shape;57;p8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" name="Google Shape;58;p8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59" name="Google Shape;59;p8"/>
          <p:cNvSpPr txBox="1">
            <a:spLocks noGrp="1"/>
          </p:cNvSpPr>
          <p:nvPr>
            <p:ph type="title"/>
          </p:nvPr>
        </p:nvSpPr>
        <p:spPr>
          <a:xfrm>
            <a:off x="729450" y="864300"/>
            <a:ext cx="7021200" cy="2985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60" name="Google Shape;60;p8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9"/>
          <p:cNvSpPr/>
          <p:nvPr/>
        </p:nvSpPr>
        <p:spPr>
          <a:xfrm>
            <a:off x="0" y="0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63" name="Google Shape;63;p9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64" name="Google Shape;64;p9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" name="Google Shape;65;p9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66" name="Google Shape;66;p9"/>
          <p:cNvSpPr txBox="1">
            <a:spLocks noGrp="1"/>
          </p:cNvSpPr>
          <p:nvPr>
            <p:ph type="title"/>
          </p:nvPr>
        </p:nvSpPr>
        <p:spPr>
          <a:xfrm>
            <a:off x="730000" y="1318650"/>
            <a:ext cx="3300900" cy="1687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>
            <a:endParaRPr/>
          </a:p>
        </p:txBody>
      </p:sp>
      <p:sp>
        <p:nvSpPr>
          <p:cNvPr id="67" name="Google Shape;67;p9"/>
          <p:cNvSpPr txBox="1">
            <a:spLocks noGrp="1"/>
          </p:cNvSpPr>
          <p:nvPr>
            <p:ph type="subTitle" idx="1"/>
          </p:nvPr>
        </p:nvSpPr>
        <p:spPr>
          <a:xfrm>
            <a:off x="724950" y="3161525"/>
            <a:ext cx="3300900" cy="759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68" name="Google Shape;68;p9"/>
          <p:cNvSpPr txBox="1">
            <a:spLocks noGrp="1"/>
          </p:cNvSpPr>
          <p:nvPr>
            <p:ph type="body" idx="2"/>
          </p:nvPr>
        </p:nvSpPr>
        <p:spPr>
          <a:xfrm>
            <a:off x="5174225" y="1352625"/>
            <a:ext cx="3374400" cy="3025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69" name="Google Shape;69;p9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0"/>
          <p:cNvSpPr txBox="1">
            <a:spLocks noGrp="1"/>
          </p:cNvSpPr>
          <p:nvPr>
            <p:ph type="body" idx="1"/>
          </p:nvPr>
        </p:nvSpPr>
        <p:spPr>
          <a:xfrm>
            <a:off x="724950" y="4372551"/>
            <a:ext cx="7697400" cy="460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</a:lstStyle>
          <a:p>
            <a:endParaRPr/>
          </a:p>
        </p:txBody>
      </p:sp>
      <p:sp>
        <p:nvSpPr>
          <p:cNvPr id="72" name="Google Shape;72;p10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bg>
      <p:bgPr>
        <a:solidFill>
          <a:schemeClr val="dk1"/>
        </a:solidFill>
        <a:effectLst/>
      </p:bgPr>
    </p:bg>
    <p:spTree>
      <p:nvGrpSpPr>
        <p:cNvPr id="1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4" name="Google Shape;74;p11"/>
          <p:cNvGrpSpPr/>
          <p:nvPr/>
        </p:nvGrpSpPr>
        <p:grpSpPr>
          <a:xfrm>
            <a:off x="830392" y="4169130"/>
            <a:ext cx="745763" cy="45826"/>
            <a:chOff x="4580561" y="2589004"/>
            <a:chExt cx="1064464" cy="25200"/>
          </a:xfrm>
        </p:grpSpPr>
        <p:sp>
          <p:nvSpPr>
            <p:cNvPr id="75" name="Google Shape;75;p11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" name="Google Shape;76;p11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77" name="Google Shape;77;p11"/>
          <p:cNvSpPr txBox="1">
            <a:spLocks noGrp="1"/>
          </p:cNvSpPr>
          <p:nvPr>
            <p:ph type="title" hasCustomPrompt="1"/>
          </p:nvPr>
        </p:nvSpPr>
        <p:spPr>
          <a:xfrm>
            <a:off x="729450" y="733950"/>
            <a:ext cx="7688400" cy="1244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78" name="Google Shape;78;p11"/>
          <p:cNvSpPr txBox="1">
            <a:spLocks noGrp="1"/>
          </p:cNvSpPr>
          <p:nvPr>
            <p:ph type="body" idx="1"/>
          </p:nvPr>
        </p:nvSpPr>
        <p:spPr>
          <a:xfrm>
            <a:off x="729450" y="2272888"/>
            <a:ext cx="7688400" cy="1580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Char char="●"/>
              <a:defRPr>
                <a:solidFill>
                  <a:schemeClr val="lt1"/>
                </a:solidFill>
              </a:defRPr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79" name="Google Shape;79;p11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2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treamline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sz="2800" b="1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sz="2800" b="1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sz="2800" b="1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sz="2800" b="1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sz="2800" b="1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sz="2800" b="1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sz="2800" b="1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sz="2800" b="1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sz="2800" b="1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300"/>
              <a:buFont typeface="Lato"/>
              <a:buChar char="●"/>
              <a:defRPr sz="13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marL="914400" lvl="1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marL="1371600" lvl="2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marL="1828800" lvl="3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●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marL="2286000" lvl="4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marL="2743200" lvl="5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marL="3200400" lvl="6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●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marL="3657600" lvl="7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marL="4114800" lvl="8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3"/>
          <p:cNvSpPr txBox="1">
            <a:spLocks noGrp="1"/>
          </p:cNvSpPr>
          <p:nvPr>
            <p:ph type="ctrTitle"/>
          </p:nvPr>
        </p:nvSpPr>
        <p:spPr>
          <a:xfrm>
            <a:off x="727950" y="907050"/>
            <a:ext cx="7688100" cy="1664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990"/>
              <a:buNone/>
            </a:pPr>
            <a:endParaRPr sz="1990" b="1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990"/>
              <a:buNone/>
            </a:pPr>
            <a:endParaRPr sz="1990" b="1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990"/>
              <a:buNone/>
            </a:pPr>
            <a:endParaRPr sz="1990" b="1" dirty="0"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-GB" sz="1990" b="1" dirty="0"/>
              <a:t>A</a:t>
            </a:r>
            <a:r>
              <a:rPr lang="en-GB" sz="2090" b="1" dirty="0"/>
              <a:t>IT 580: Analytics: Big Data to Information</a:t>
            </a:r>
            <a:endParaRPr sz="2090" b="1" dirty="0"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SzPts val="990"/>
              <a:buNone/>
            </a:pPr>
            <a:endParaRPr sz="2090" b="1" dirty="0"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SzPts val="990"/>
              <a:buNone/>
            </a:pPr>
            <a:endParaRPr sz="690" b="1" dirty="0"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90"/>
              <a:buFont typeface="Arial"/>
              <a:buNone/>
            </a:pPr>
            <a:r>
              <a:rPr lang="en-GB" sz="2090" b="1" dirty="0"/>
              <a:t>Title: Analysis of Drug Overdose Death Rates in the United States</a:t>
            </a:r>
            <a:endParaRPr sz="2480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990"/>
              <a:buNone/>
            </a:pPr>
            <a:endParaRPr sz="680" dirty="0"/>
          </a:p>
        </p:txBody>
      </p:sp>
      <p:sp>
        <p:nvSpPr>
          <p:cNvPr id="87" name="Google Shape;87;p13"/>
          <p:cNvSpPr txBox="1">
            <a:spLocks noGrp="1"/>
          </p:cNvSpPr>
          <p:nvPr>
            <p:ph type="subTitle" idx="1"/>
          </p:nvPr>
        </p:nvSpPr>
        <p:spPr>
          <a:xfrm>
            <a:off x="313200" y="3849175"/>
            <a:ext cx="8520600" cy="703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935"/>
              <a:buNone/>
            </a:pPr>
            <a:r>
              <a:rPr lang="en-GB" sz="1480" dirty="0"/>
              <a:t>Rushikesh </a:t>
            </a:r>
            <a:r>
              <a:rPr lang="en-GB" sz="1480" dirty="0" err="1"/>
              <a:t>Shivajirao</a:t>
            </a:r>
            <a:r>
              <a:rPr lang="en-GB" sz="1480" dirty="0"/>
              <a:t> Ware</a:t>
            </a:r>
            <a:endParaRPr sz="1480" dirty="0"/>
          </a:p>
          <a:p>
            <a:pPr marL="0" lvl="0" indent="0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935"/>
              <a:buNone/>
            </a:pPr>
            <a:r>
              <a:rPr lang="en-GB" sz="1480" dirty="0"/>
              <a:t>(G01477377)</a:t>
            </a:r>
            <a:endParaRPr sz="1480" dirty="0"/>
          </a:p>
        </p:txBody>
      </p:sp>
      <p:pic>
        <p:nvPicPr>
          <p:cNvPr id="88" name="Google Shape;88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1700" y="260900"/>
            <a:ext cx="3040000" cy="8836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17029"/>
    </mc:Choice>
    <mc:Fallback>
      <p:transition spd="slow" advTm="17029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14"/>
          <p:cNvSpPr txBox="1">
            <a:spLocks noGrp="1"/>
          </p:cNvSpPr>
          <p:nvPr>
            <p:ph type="title"/>
          </p:nvPr>
        </p:nvSpPr>
        <p:spPr>
          <a:xfrm>
            <a:off x="727650" y="932125"/>
            <a:ext cx="7688700" cy="53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42307"/>
              <a:buFont typeface="Arial"/>
              <a:buNone/>
            </a:pPr>
            <a:r>
              <a:rPr lang="en-GB"/>
              <a:t>      Dataset Description and Research Questions</a:t>
            </a:r>
            <a:endParaRPr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42307"/>
              <a:buFont typeface="Arial"/>
              <a:buNone/>
            </a:pPr>
            <a:endParaRPr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4" name="Google Shape;94;p14"/>
          <p:cNvSpPr txBox="1">
            <a:spLocks noGrp="1"/>
          </p:cNvSpPr>
          <p:nvPr>
            <p:ph type="body" idx="1"/>
          </p:nvPr>
        </p:nvSpPr>
        <p:spPr>
          <a:xfrm>
            <a:off x="727650" y="1652725"/>
            <a:ext cx="7688700" cy="2840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852"/>
              <a:buNone/>
            </a:pPr>
            <a:r>
              <a:rPr lang="en-GB" sz="1052" b="1"/>
              <a:t>Dataset Overview:</a:t>
            </a:r>
            <a:endParaRPr sz="1052" b="1"/>
          </a:p>
          <a:p>
            <a:pPr marL="457200" lvl="0" indent="-295433" algn="l" rtl="0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1053"/>
              <a:buChar char="●"/>
            </a:pPr>
            <a:r>
              <a:rPr lang="en-GB" sz="1052"/>
              <a:t>Our study utilizes a comprehensive dataset from the U.S. Department of Health &amp; Human Services, covering drug overdose deaths in the U.S. from 1999 to 2018. </a:t>
            </a:r>
            <a:endParaRPr sz="1052"/>
          </a:p>
          <a:p>
            <a:pPr marL="457200" lvl="0" indent="-295433" algn="l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053"/>
              <a:buChar char="●"/>
            </a:pPr>
            <a:r>
              <a:rPr lang="en-GB" sz="1052"/>
              <a:t>I chose this dataset because it provides a wide scope of data that is essential for understanding how drug overdose impacts various demographics and how these impacts have evolved over time.</a:t>
            </a:r>
            <a:endParaRPr sz="1052"/>
          </a:p>
          <a:p>
            <a:pPr marL="0" lvl="0" indent="0" algn="l" rtl="0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852"/>
              <a:buNone/>
            </a:pPr>
            <a:r>
              <a:rPr lang="en-GB" sz="1052" b="1"/>
              <a:t>Research Questions:</a:t>
            </a:r>
            <a:endParaRPr sz="1052" b="1"/>
          </a:p>
          <a:p>
            <a:pPr marL="457200" lvl="0" indent="-295433" algn="l" rtl="0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1053"/>
              <a:buChar char="●"/>
            </a:pPr>
            <a:r>
              <a:rPr lang="en-GB" sz="1052"/>
              <a:t>How have drug overdose death rates evolved over time across the nation?</a:t>
            </a:r>
            <a:endParaRPr sz="1052"/>
          </a:p>
          <a:p>
            <a:pPr marL="457200" lvl="0" indent="-295433" algn="l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053"/>
              <a:buChar char="●"/>
            </a:pPr>
            <a:r>
              <a:rPr lang="en-GB" sz="1052"/>
              <a:t>What demographic factors influence the variability in these rates?</a:t>
            </a:r>
            <a:endParaRPr sz="1052"/>
          </a:p>
          <a:p>
            <a:pPr marL="457200" lvl="0" indent="-295433" algn="l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053"/>
              <a:buChar char="●"/>
            </a:pPr>
            <a:r>
              <a:rPr lang="en-GB" sz="1052"/>
              <a:t>Which specific drugs are most frequently implicated in these fatalities?</a:t>
            </a:r>
            <a:endParaRPr sz="1052"/>
          </a:p>
          <a:p>
            <a:pPr marL="0" lvl="0" indent="0" algn="l" rtl="0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052" b="1"/>
              <a:t>Methods Overview:</a:t>
            </a:r>
            <a:endParaRPr sz="1052" b="1"/>
          </a:p>
          <a:p>
            <a:pPr marL="457200" lvl="0" indent="-295433" algn="l" rtl="0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1053"/>
              <a:buChar char="●"/>
            </a:pPr>
            <a:r>
              <a:rPr lang="en-GB" sz="1052"/>
              <a:t>Data Source: "Analyzed comprehensive overdose death data from the U.S. Department of Health &amp; Human Services, spanning 1999 to 2018."</a:t>
            </a:r>
            <a:endParaRPr sz="1052"/>
          </a:p>
          <a:p>
            <a:pPr marL="457200" lvl="0" indent="-295433" algn="l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053"/>
              <a:buChar char="●"/>
            </a:pPr>
            <a:r>
              <a:rPr lang="en-GB" sz="1052"/>
              <a:t>Statistical Techniques: "Applied linear and enhanced regression models to examine trends and demographic impacts."</a:t>
            </a:r>
            <a:endParaRPr sz="1052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74500"/>
    </mc:Choice>
    <mc:Fallback>
      <p:transition spd="slow" advTm="74500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15"/>
          <p:cNvSpPr txBox="1">
            <a:spLocks noGrp="1"/>
          </p:cNvSpPr>
          <p:nvPr>
            <p:ph type="title"/>
          </p:nvPr>
        </p:nvSpPr>
        <p:spPr>
          <a:xfrm>
            <a:off x="818650" y="892500"/>
            <a:ext cx="7688700" cy="53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Overall Trends</a:t>
            </a:r>
            <a:endParaRPr dirty="0"/>
          </a:p>
        </p:txBody>
      </p:sp>
      <p:pic>
        <p:nvPicPr>
          <p:cNvPr id="100" name="Google Shape;100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445361" y="2638740"/>
            <a:ext cx="3859866" cy="1919509"/>
          </a:xfrm>
          <a:prstGeom prst="rect">
            <a:avLst/>
          </a:prstGeom>
          <a:noFill/>
          <a:ln>
            <a:noFill/>
          </a:ln>
        </p:spPr>
      </p:pic>
      <p:sp>
        <p:nvSpPr>
          <p:cNvPr id="101" name="Google Shape;101;p15"/>
          <p:cNvSpPr txBox="1"/>
          <p:nvPr/>
        </p:nvSpPr>
        <p:spPr>
          <a:xfrm>
            <a:off x="943450" y="1708575"/>
            <a:ext cx="4003800" cy="117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300" b="1" dirty="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Overall Increase in Overdose Deaths:</a:t>
            </a:r>
            <a:endParaRPr sz="1300" b="1" dirty="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  <a:p>
            <a:pPr marL="457200" lvl="0" indent="-311150" algn="l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300"/>
              <a:buFont typeface="Lato"/>
              <a:buChar char="●"/>
            </a:pPr>
            <a:r>
              <a:rPr lang="en-GB" sz="1300" dirty="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Data analysis reveals a marked increase in overdose deaths, highlighting a national crisis.</a:t>
            </a:r>
            <a:endParaRPr sz="1300" dirty="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  <a:p>
            <a:pPr marL="457200" lvl="0" indent="-311150" algn="l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300"/>
              <a:buFont typeface="Lato"/>
              <a:buChar char="●"/>
            </a:pPr>
            <a:r>
              <a:rPr lang="en-GB" sz="1300" dirty="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Linear regression models indicate a significant positive trend year over year.</a:t>
            </a:r>
          </a:p>
          <a:p>
            <a:pPr marL="457200" lvl="0" indent="-311150" algn="l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300"/>
              <a:buFont typeface="Lato"/>
              <a:buChar char="●"/>
            </a:pPr>
            <a:endParaRPr sz="1300" dirty="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300" dirty="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50643"/>
    </mc:Choice>
    <mc:Fallback>
      <p:transition spd="slow" advTm="50643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16"/>
          <p:cNvSpPr txBox="1">
            <a:spLocks noGrp="1"/>
          </p:cNvSpPr>
          <p:nvPr>
            <p:ph type="title"/>
          </p:nvPr>
        </p:nvSpPr>
        <p:spPr>
          <a:xfrm>
            <a:off x="788900" y="902400"/>
            <a:ext cx="7688700" cy="53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             </a:t>
            </a:r>
            <a:r>
              <a:rPr lang="en-GB" sz="2377"/>
              <a:t>Specific Drug Trends and Regression Model  </a:t>
            </a:r>
            <a:endParaRPr sz="2377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377"/>
              <a:t>              Insights</a:t>
            </a:r>
            <a:endParaRPr sz="2377"/>
          </a:p>
        </p:txBody>
      </p:sp>
      <p:sp>
        <p:nvSpPr>
          <p:cNvPr id="110" name="Google Shape;110;p16"/>
          <p:cNvSpPr txBox="1"/>
          <p:nvPr/>
        </p:nvSpPr>
        <p:spPr>
          <a:xfrm>
            <a:off x="488148" y="3240466"/>
            <a:ext cx="4479600" cy="15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 b="1" dirty="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Specific Drug Involvement:</a:t>
            </a:r>
            <a:endParaRPr sz="1200" b="1" dirty="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  <a:p>
            <a:pPr marL="457200" lvl="0" indent="-298450" algn="l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●"/>
            </a:pPr>
            <a:r>
              <a:rPr lang="en-GB" sz="1100" dirty="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A deeper dive into the data shows synthetic opioids, like fentanyl, are the most implicated in the increase in deaths.</a:t>
            </a:r>
            <a:endParaRPr sz="1100" dirty="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  <a:p>
            <a:pPr marL="158750" lvl="0" algn="l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</a:pPr>
            <a:endParaRPr sz="1100" dirty="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</p:txBody>
      </p:sp>
      <p:pic>
        <p:nvPicPr>
          <p:cNvPr id="9" name="Google Shape;108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379495" y="1437600"/>
            <a:ext cx="4276357" cy="1802867"/>
          </a:xfrm>
          <a:prstGeom prst="rect">
            <a:avLst/>
          </a:prstGeom>
          <a:noFill/>
          <a:ln>
            <a:noFill/>
          </a:ln>
        </p:spPr>
      </p:pic>
      <p:sp>
        <p:nvSpPr>
          <p:cNvPr id="102" name="Google Shape;102;p15"/>
          <p:cNvSpPr txBox="1"/>
          <p:nvPr/>
        </p:nvSpPr>
        <p:spPr>
          <a:xfrm>
            <a:off x="642852" y="1685033"/>
            <a:ext cx="3855300" cy="130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300" b="1" dirty="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Impact of Demographic Factors:</a:t>
            </a:r>
            <a:endParaRPr sz="1300" b="1" dirty="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  <a:p>
            <a:pPr marL="457200" lvl="0" indent="-311150" algn="l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300"/>
              <a:buFont typeface="Lato"/>
              <a:buChar char="●"/>
            </a:pPr>
            <a:r>
              <a:rPr lang="en-GB" sz="1300" dirty="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Regression models show varying overdose death rates across different demographics.</a:t>
            </a:r>
            <a:endParaRPr sz="1300" dirty="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  <a:p>
            <a:pPr marL="457200" lvl="0" indent="-311150" algn="l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300"/>
              <a:buFont typeface="Lato"/>
              <a:buChar char="●"/>
            </a:pPr>
            <a:r>
              <a:rPr lang="en-GB" sz="1300" dirty="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Age, particularly the 25-34 bracket, and race, with non-Hispanic whites most affected, are significant factors.</a:t>
            </a:r>
            <a:endParaRPr sz="1300" dirty="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</p:txBody>
      </p:sp>
      <p:pic>
        <p:nvPicPr>
          <p:cNvPr id="11" name="Picture 10" descr="A screenshot of a login page&#10;&#10;Description automatically generated">
            <a:extLst>
              <a:ext uri="{FF2B5EF4-FFF2-40B4-BE49-F238E27FC236}">
                <a16:creationId xmlns:a16="http://schemas.microsoft.com/office/drawing/2014/main" id="{FDC7DFC9-6A38-B16F-1E94-43ACA07A938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40018" y="3487900"/>
            <a:ext cx="3915833" cy="1394536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42663"/>
    </mc:Choice>
    <mc:Fallback>
      <p:transition spd="slow" advTm="42663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17"/>
          <p:cNvSpPr txBox="1">
            <a:spLocks noGrp="1"/>
          </p:cNvSpPr>
          <p:nvPr>
            <p:ph type="title"/>
          </p:nvPr>
        </p:nvSpPr>
        <p:spPr>
          <a:xfrm>
            <a:off x="164575" y="932125"/>
            <a:ext cx="7688700" cy="53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Conclusion and Next Steps</a:t>
            </a:r>
            <a:endParaRPr/>
          </a:p>
        </p:txBody>
      </p:sp>
      <p:sp>
        <p:nvSpPr>
          <p:cNvPr id="117" name="Google Shape;117;p17"/>
          <p:cNvSpPr txBox="1">
            <a:spLocks noGrp="1"/>
          </p:cNvSpPr>
          <p:nvPr>
            <p:ph type="body" idx="1"/>
          </p:nvPr>
        </p:nvSpPr>
        <p:spPr>
          <a:xfrm>
            <a:off x="727650" y="1850925"/>
            <a:ext cx="7688700" cy="2261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2500" lnSpcReduction="1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728" b="1" dirty="0"/>
              <a:t>Concluding Insights:</a:t>
            </a:r>
            <a:endParaRPr sz="1728" b="1" dirty="0"/>
          </a:p>
          <a:p>
            <a:pPr marL="457200" lvl="0" indent="-298767" algn="l" rtl="0">
              <a:spcBef>
                <a:spcPts val="1200"/>
              </a:spcBef>
              <a:spcAft>
                <a:spcPts val="0"/>
              </a:spcAft>
              <a:buSzPct val="100000"/>
              <a:buChar char="●"/>
            </a:pPr>
            <a:r>
              <a:rPr lang="en-GB" dirty="0"/>
              <a:t>Our study has confirmed a critical rise in drug overdose deaths, influenced heavily by demographics and the emergence of synthetic opioids.</a:t>
            </a:r>
            <a:endParaRPr dirty="0"/>
          </a:p>
          <a:p>
            <a:pPr marL="457200" lvl="0" indent="-298767" algn="l" rtl="0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-GB" dirty="0"/>
              <a:t>Effective public health responses must focus on high-risk groups and the regulation of potent synthetic opioids.</a:t>
            </a:r>
            <a:endParaRPr dirty="0"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-GB" b="1" dirty="0"/>
              <a:t>Recommendations for Action:</a:t>
            </a:r>
            <a:endParaRPr b="1" dirty="0"/>
          </a:p>
          <a:p>
            <a:pPr marL="457200" lvl="0" indent="-298767" algn="l" rtl="0">
              <a:spcBef>
                <a:spcPts val="1200"/>
              </a:spcBef>
              <a:spcAft>
                <a:spcPts val="0"/>
              </a:spcAft>
              <a:buSzPct val="100000"/>
              <a:buChar char="●"/>
            </a:pPr>
            <a:r>
              <a:rPr lang="en-GB" dirty="0"/>
              <a:t>Enhance surveillance and intervention strategies, specifically targeting the most affected demographics.</a:t>
            </a:r>
            <a:endParaRPr dirty="0"/>
          </a:p>
          <a:p>
            <a:pPr marL="457200" lvl="0" indent="-298767" algn="l" rtl="0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-GB" dirty="0"/>
              <a:t>Advance policies to curb the spread and impact of fentanyl and similar substances.</a:t>
            </a:r>
            <a:endParaRPr dirty="0"/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endParaRPr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31284"/>
    </mc:Choice>
    <mc:Fallback>
      <p:transition spd="slow" advTm="31284"/>
    </mc:Fallback>
  </mc:AlternateContent>
</p:sld>
</file>

<file path=ppt/theme/theme1.xml><?xml version="1.0" encoding="utf-8"?>
<a:theme xmlns:a="http://schemas.openxmlformats.org/drawingml/2006/main" name="Streamline">
  <a:themeElements>
    <a:clrScheme name="Streamline">
      <a:dk1>
        <a:srgbClr val="1A9988"/>
      </a:dk1>
      <a:lt1>
        <a:srgbClr val="FFFFFF"/>
      </a:lt1>
      <a:dk2>
        <a:srgbClr val="1A1A1A"/>
      </a:dk2>
      <a:lt2>
        <a:srgbClr val="E9EDEE"/>
      </a:lt2>
      <a:accent1>
        <a:srgbClr val="595959"/>
      </a:accent1>
      <a:accent2>
        <a:srgbClr val="6AA4C8"/>
      </a:accent2>
      <a:accent3>
        <a:srgbClr val="EB5600"/>
      </a:accent3>
      <a:accent4>
        <a:srgbClr val="A2FFE8"/>
      </a:accent4>
      <a:accent5>
        <a:srgbClr val="1C3678"/>
      </a:accent5>
      <a:accent6>
        <a:srgbClr val="FFB8A2"/>
      </a:accent6>
      <a:hlink>
        <a:srgbClr val="1C3678"/>
      </a:hlink>
      <a:folHlink>
        <a:srgbClr val="1C3678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TM03090434[[fn=Wood Type]]</Template>
  <TotalTime>164</TotalTime>
  <Words>371</Words>
  <Application>Microsoft Office PowerPoint</Application>
  <PresentationFormat>On-screen Show (16:9)</PresentationFormat>
  <Paragraphs>38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Lato</vt:lpstr>
      <vt:lpstr>Raleway</vt:lpstr>
      <vt:lpstr>Arial</vt:lpstr>
      <vt:lpstr>Streamline</vt:lpstr>
      <vt:lpstr>   AIT 580: Analytics: Big Data to Information   Title: Analysis of Drug Overdose Death Rates in the United States </vt:lpstr>
      <vt:lpstr>      Dataset Description and Research Questions  </vt:lpstr>
      <vt:lpstr>Overall Trends</vt:lpstr>
      <vt:lpstr>             Specific Drug Trends and Regression Model                 Insights</vt:lpstr>
      <vt:lpstr>Conclusion and Next Steps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AIT 580: Analytics: Big Data to Information   Title: Analysis of Drug Overdose Death Rates in the United States</dc:title>
  <dc:creator>Rushikesh Ware</dc:creator>
  <cp:lastModifiedBy>Rushikesh Ware</cp:lastModifiedBy>
  <cp:revision>2</cp:revision>
  <dcterms:modified xsi:type="dcterms:W3CDTF">2024-04-29T02:06:35Z</dcterms:modified>
</cp:coreProperties>
</file>